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usya/Downloads/&#1058;&#1072;&#1073;&#1083;&#1080;&#1095;&#1085;&#1099;&#1080;&#774;&#1055;&#1088;&#1086;&#1094;&#1077;&#1089;&#1089;&#1086;&#1088;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2869203849518809"/>
          <c:y val="0.21800925925925929"/>
          <c:w val="0.82686351706036743"/>
          <c:h val="0.61498432487605714"/>
        </c:manualLayout>
      </c:layout>
      <c:lineChart>
        <c:grouping val="stacked"/>
        <c:varyColors val="0"/>
        <c:ser>
          <c:idx val="0"/>
          <c:order val="0"/>
          <c:tx>
            <c:strRef>
              <c:f>Лист5!$A$2</c:f>
              <c:strCache>
                <c:ptCount val="1"/>
                <c:pt idx="0">
                  <c:v>Кооледж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Лист5!$B$1:$H$1</c:f>
              <c:numCache>
                <c:formatCode>General</c:formatCod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</c:numCache>
            </c:numRef>
          </c:cat>
          <c:val>
            <c:numRef>
              <c:f>Лист5!$B$2:$H$2</c:f>
              <c:numCache>
                <c:formatCode>General</c:formatCode>
                <c:ptCount val="7"/>
                <c:pt idx="0">
                  <c:v>1510000</c:v>
                </c:pt>
                <c:pt idx="1">
                  <c:v>2236476</c:v>
                </c:pt>
                <c:pt idx="2">
                  <c:v>1934765</c:v>
                </c:pt>
                <c:pt idx="3">
                  <c:v>4543534</c:v>
                </c:pt>
                <c:pt idx="4">
                  <c:v>2348887</c:v>
                </c:pt>
                <c:pt idx="5">
                  <c:v>1170004</c:v>
                </c:pt>
                <c:pt idx="6">
                  <c:v>2344598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A9-C744-8FE2-AC37B2230A37}"/>
            </c:ext>
          </c:extLst>
        </c:ser>
        <c:ser>
          <c:idx val="1"/>
          <c:order val="1"/>
          <c:tx>
            <c:strRef>
              <c:f>Лист5!$A$3</c:f>
              <c:strCache>
                <c:ptCount val="1"/>
                <c:pt idx="0">
                  <c:v>Кооледж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Лист5!$B$1:$H$1</c:f>
              <c:numCache>
                <c:formatCode>General</c:formatCod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</c:numCache>
            </c:numRef>
          </c:cat>
          <c:val>
            <c:numRef>
              <c:f>Лист5!$B$3:$H$3</c:f>
              <c:numCache>
                <c:formatCode>General</c:formatCode>
                <c:ptCount val="7"/>
                <c:pt idx="0">
                  <c:v>237800</c:v>
                </c:pt>
                <c:pt idx="1">
                  <c:v>732647</c:v>
                </c:pt>
                <c:pt idx="2">
                  <c:v>567672</c:v>
                </c:pt>
                <c:pt idx="3">
                  <c:v>234234</c:v>
                </c:pt>
                <c:pt idx="4">
                  <c:v>323217</c:v>
                </c:pt>
                <c:pt idx="5">
                  <c:v>634423</c:v>
                </c:pt>
                <c:pt idx="6">
                  <c:v>235455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A9-C744-8FE2-AC37B2230A37}"/>
            </c:ext>
          </c:extLst>
        </c:ser>
        <c:ser>
          <c:idx val="2"/>
          <c:order val="2"/>
          <c:tx>
            <c:strRef>
              <c:f>Лист5!$A$4</c:f>
              <c:strCache>
                <c:ptCount val="1"/>
                <c:pt idx="0">
                  <c:v>Кооледж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Лист5!$B$1:$H$1</c:f>
              <c:numCache>
                <c:formatCode>General</c:formatCod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</c:numCache>
            </c:numRef>
          </c:cat>
          <c:val>
            <c:numRef>
              <c:f>Лист5!$B$4:$H$4</c:f>
              <c:numCache>
                <c:formatCode>General</c:formatCode>
                <c:ptCount val="7"/>
                <c:pt idx="0">
                  <c:v>3211400</c:v>
                </c:pt>
                <c:pt idx="1">
                  <c:v>4873837</c:v>
                </c:pt>
                <c:pt idx="2">
                  <c:v>3654654</c:v>
                </c:pt>
                <c:pt idx="3">
                  <c:v>3453453</c:v>
                </c:pt>
                <c:pt idx="4">
                  <c:v>5435323</c:v>
                </c:pt>
                <c:pt idx="5">
                  <c:v>4586959</c:v>
                </c:pt>
                <c:pt idx="6">
                  <c:v>8576885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A9-C744-8FE2-AC37B2230A37}"/>
            </c:ext>
          </c:extLst>
        </c:ser>
        <c:ser>
          <c:idx val="3"/>
          <c:order val="3"/>
          <c:tx>
            <c:strRef>
              <c:f>Лист5!$A$5</c:f>
              <c:strCache>
                <c:ptCount val="1"/>
                <c:pt idx="0">
                  <c:v>Кооледж 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Лист5!$B$1:$H$1</c:f>
              <c:numCache>
                <c:formatCode>General</c:formatCod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</c:numCache>
            </c:numRef>
          </c:cat>
          <c:val>
            <c:numRef>
              <c:f>Лист5!$B$5:$H$5</c:f>
              <c:numCache>
                <c:formatCode>General</c:formatCode>
                <c:ptCount val="7"/>
                <c:pt idx="0">
                  <c:v>4961201</c:v>
                </c:pt>
                <c:pt idx="1">
                  <c:v>7844962</c:v>
                </c:pt>
                <c:pt idx="2">
                  <c:v>6159094</c:v>
                </c:pt>
                <c:pt idx="3">
                  <c:v>8233225</c:v>
                </c:pt>
                <c:pt idx="4">
                  <c:v>8109432</c:v>
                </c:pt>
                <c:pt idx="5">
                  <c:v>6393392</c:v>
                </c:pt>
                <c:pt idx="6">
                  <c:v>11158945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BA9-C744-8FE2-AC37B2230A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2397312"/>
        <c:axId val="1155923087"/>
      </c:lineChart>
      <c:catAx>
        <c:axId val="592397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55923087"/>
        <c:crosses val="autoZero"/>
        <c:auto val="1"/>
        <c:lblAlgn val="ctr"/>
        <c:lblOffset val="100"/>
        <c:noMultiLvlLbl val="0"/>
      </c:catAx>
      <c:valAx>
        <c:axId val="115592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2397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73B402-B4DC-7B1F-5BD9-9F24B702F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F08817-8825-AE0C-66A5-D9A8B3CF4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8653E4-7446-7D8A-3ECF-967605F35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0DCE11-69CA-DE99-5564-0B2076F1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9C5852-3EC0-4769-0BF4-C5E04FF83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015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B045C-D1FC-EA3B-FAFC-D52A951E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BA7D4E-7814-3EA2-7D96-2877CA9F6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FFC417-8BCA-7C02-2705-E5A82286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96ECCF-5F8B-8371-B7E8-6CC2DB1FF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B856BB-9AD7-8807-57AA-4305F6F2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90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0C8AF-5435-494D-7A9B-1208C285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8359B2-C7FF-BA30-7557-874B0CF60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189BC6-CAF7-FD89-082E-37A94A28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2F6852-C1B6-B301-124E-166FFDC8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64ABAF-AC18-4F27-BFE4-0B2C74E1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80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9772D-CFEE-36FA-ABBD-511518B4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493AC3-8468-3300-161B-A04F9039E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216963-B5BF-6300-AF14-52EFE98EF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DC7806-A7AF-BAB0-2207-641B05AC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A0741F-2D1B-FB64-FB9E-5DA65D99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7F9FF3-A9FF-E354-D669-03E4095E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77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408D07-5CB1-BD3B-6063-90DC8E8CA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6A93AB-52C7-5A7E-A4FC-E5F0941BD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53E319-D5BF-C4B5-5D67-9885277F6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8499C31-EC9B-7455-8A18-CE2D01BBA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7DCDFCC-BDBD-4A24-5860-7E42866AD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C6B258-50D5-5801-AA98-35A88AB60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E56381-6FDA-D063-4B6B-863BC4D0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029BCBE-87D5-A401-D1C9-C3A42E38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49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52293-AD45-7573-B38D-586A65B0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4673FC-0994-8014-5BC4-C6DC90AB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6E8099-9EDC-A875-B6C7-B1D17EE2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5E113E-566C-6D48-7ECE-8886045C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37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A7A7430-84C4-6D15-911F-852FF144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B60A92-FA2A-FA29-59D4-938D06AB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B6167B-8F10-DA1D-ECB5-8AD19BE7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616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2AAC4A-DB60-74EB-7D9E-C89AE257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AB818E-82BB-FCDB-EB38-F1CD1CD55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ADB649-94DE-967B-EBAB-0B740064D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98F97E-38CC-8C16-0177-173340393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3061AF-0AA7-1CC3-3B92-6CC7A1B9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F304E4-A42E-69F2-1434-C194FCC0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12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BDBD0-6AE1-D380-D3A7-84EFB4FA8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A3C31B-B7F8-4C3A-E4BE-CF0D5FB44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33FC7F-F624-DFF5-CA6C-BF8627B5D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FE9AB4-E194-7F2C-DBC3-14CE4A383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85A228-F3A2-13F3-FE51-9037BAA4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EF71AC-7C84-88F4-CA93-F83CC0F8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15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D3345-375F-A80C-4CFA-D8D23560C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55FAB2-2775-B527-1A7E-ACDA639DB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F0BD59-267B-BE6E-FB60-91BCA418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F840A3-17E8-C9B6-6494-10C35BB0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D5F6A4-B14C-DB1B-F52B-606D18B9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0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A819818-2411-EC92-D4E8-FA4F2F8E7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D20C58-64AA-DDA4-3AB6-54C1480DD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F97836-3D1C-906D-E0E4-63EFCD3C5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3E47DC-D71E-94C6-E207-9DD11A003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1FB3AD-DD38-F834-632D-CA653F86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81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49D97-3D62-054A-AAE2-1AF91E156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BCD83B-D1CB-FEE7-BF26-BE5639F8C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1D0E38-AFDE-A0BF-082D-1DD18FD9D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B36E7-9752-3F4A-B6A2-4528A157854E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C4D984-14FF-042B-83DB-F9C0BDDDC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6CF33D-A1EA-5E73-1A5E-7AB2159A3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055D9-E2AC-E749-BB48-08AAD05FB5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48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C69FF-B1E9-1BF5-0008-374560F229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Табличный процессор часть 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D491E0-489F-96B1-A442-F954388FF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88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855AA-D44A-0AE3-F2BE-F59FDAE3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607BFB-9B97-0DBC-0CB5-0B931F01E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Листе 1 определить </a:t>
            </a:r>
          </a:p>
          <a:p>
            <a:pPr marL="0" indent="0">
              <a:buNone/>
            </a:pPr>
            <a:r>
              <a:rPr lang="ru-RU" dirty="0"/>
              <a:t>суммы степеней числа 2: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61C788A-8EDE-2467-CACC-5578E5752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825055"/>
              </p:ext>
            </p:extLst>
          </p:nvPr>
        </p:nvGraphicFramePr>
        <p:xfrm>
          <a:off x="7714593" y="1690688"/>
          <a:ext cx="1603125" cy="4351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6077">
                  <a:extLst>
                    <a:ext uri="{9D8B030D-6E8A-4147-A177-3AD203B41FA5}">
                      <a16:colId xmlns:a16="http://schemas.microsoft.com/office/drawing/2014/main" val="1751461995"/>
                    </a:ext>
                  </a:extLst>
                </a:gridCol>
                <a:gridCol w="677048">
                  <a:extLst>
                    <a:ext uri="{9D8B030D-6E8A-4147-A177-3AD203B41FA5}">
                      <a16:colId xmlns:a16="http://schemas.microsoft.com/office/drawing/2014/main" val="3147391581"/>
                    </a:ext>
                  </a:extLst>
                </a:gridCol>
              </a:tblGrid>
              <a:tr h="35393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effectLst/>
                        </a:rPr>
                        <a:t>Максимальный показатель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Сумма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ctr"/>
                </a:tc>
                <a:extLst>
                  <a:ext uri="{0D108BD9-81ED-4DB2-BD59-A6C34878D82A}">
                    <a16:rowId xmlns:a16="http://schemas.microsoft.com/office/drawing/2014/main" val="4187968915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186855692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047749025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392995514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4112554529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229737005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5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464890443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6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45360062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602377318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136153878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4077872696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479286312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275738272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071143981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487507487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432361068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15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830289916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16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281586919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908681496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674486550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550610256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520127667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150576144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886610989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effectLst/>
                        </a:rPr>
                        <a:t> 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57605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63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855AA-D44A-0AE3-F2BE-F59FDAE3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607BFB-9B97-0DBC-0CB5-0B931F01E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Листе 2 определить </a:t>
            </a:r>
          </a:p>
          <a:p>
            <a:pPr marL="0" indent="0">
              <a:buNone/>
            </a:pPr>
            <a:r>
              <a:rPr lang="ru-RU" dirty="0"/>
              <a:t>суммы степеней числа 3: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61C788A-8EDE-2467-CACC-5578E5752E2B}"/>
              </a:ext>
            </a:extLst>
          </p:cNvPr>
          <p:cNvGraphicFramePr>
            <a:graphicFrameLocks noGrp="1"/>
          </p:cNvGraphicFramePr>
          <p:nvPr/>
        </p:nvGraphicFramePr>
        <p:xfrm>
          <a:off x="7714593" y="1690688"/>
          <a:ext cx="1603125" cy="4351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6077">
                  <a:extLst>
                    <a:ext uri="{9D8B030D-6E8A-4147-A177-3AD203B41FA5}">
                      <a16:colId xmlns:a16="http://schemas.microsoft.com/office/drawing/2014/main" val="1751461995"/>
                    </a:ext>
                  </a:extLst>
                </a:gridCol>
                <a:gridCol w="677048">
                  <a:extLst>
                    <a:ext uri="{9D8B030D-6E8A-4147-A177-3AD203B41FA5}">
                      <a16:colId xmlns:a16="http://schemas.microsoft.com/office/drawing/2014/main" val="3147391581"/>
                    </a:ext>
                  </a:extLst>
                </a:gridCol>
              </a:tblGrid>
              <a:tr h="35393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effectLst/>
                        </a:rPr>
                        <a:t>Максимальный показатель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Сумма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ctr"/>
                </a:tc>
                <a:extLst>
                  <a:ext uri="{0D108BD9-81ED-4DB2-BD59-A6C34878D82A}">
                    <a16:rowId xmlns:a16="http://schemas.microsoft.com/office/drawing/2014/main" val="4187968915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186855692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047749025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392995514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4112554529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229737005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5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464890443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6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45360062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602377318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136153878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4077872696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479286312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275738272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071143981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487507487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432361068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15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830289916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16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281586919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908681496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674486550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19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1550610256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520127667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150576144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2886610989"/>
                  </a:ext>
                </a:extLst>
              </a:tr>
              <a:tr h="166558"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>
                          <a:effectLst/>
                        </a:rPr>
                        <a:t>23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effectLst/>
                        </a:rPr>
                        <a:t> 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07" marR="7807" marT="7807" marB="0" anchor="b"/>
                </a:tc>
                <a:extLst>
                  <a:ext uri="{0D108BD9-81ED-4DB2-BD59-A6C34878D82A}">
                    <a16:rowId xmlns:a16="http://schemas.microsoft.com/office/drawing/2014/main" val="357605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21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318927-E2AE-749B-126F-8C022424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8CF3CE-5BF6-E712-F3B3-EF19B9D2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861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 Листе 3</a:t>
            </a:r>
            <a:r>
              <a:rPr lang="en-US" dirty="0"/>
              <a:t> </a:t>
            </a:r>
            <a:r>
              <a:rPr lang="ru-RU" dirty="0"/>
              <a:t>применить функцию ВПР</a:t>
            </a:r>
            <a:r>
              <a:rPr lang="en-US" dirty="0"/>
              <a:t>:</a:t>
            </a:r>
            <a:r>
              <a:rPr lang="ru-RU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ACB015-C055-EECB-3DCB-6DB1FFE74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4000"/>
            <a:ext cx="52197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80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CB987-1570-4415-018B-B7F06056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6289B0-4A63-DB07-425F-ABA7B0AAC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Работа со статистическими функциями</a:t>
            </a:r>
            <a:r>
              <a:rPr lang="en-US" dirty="0"/>
              <a:t> </a:t>
            </a:r>
            <a:r>
              <a:rPr lang="ru-RU" dirty="0"/>
              <a:t>на Листе 4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A54C39-DA5A-B870-F425-D3E85D91D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376" y="2626492"/>
            <a:ext cx="56642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17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91E7B-EBA4-AD69-8D82-6864E8DF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096" y="91449"/>
            <a:ext cx="10515600" cy="1325563"/>
          </a:xfrm>
        </p:spPr>
        <p:txBody>
          <a:bodyPr/>
          <a:lstStyle/>
          <a:p>
            <a:r>
              <a:rPr lang="ru-RU" dirty="0"/>
              <a:t>Задание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D6EC36-E861-0402-F91D-C7A40B061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723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 Листе 5 создать таблицу доходов колледжей от продаж дистанционных курсов.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Построить график суммарных доходов колледжей от продаж по годам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F3D0EAF-EC54-E47D-2E37-BA0962C63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479642"/>
              </p:ext>
            </p:extLst>
          </p:nvPr>
        </p:nvGraphicFramePr>
        <p:xfrm>
          <a:off x="1521372" y="1888792"/>
          <a:ext cx="6604000" cy="101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179919970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67928649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96469899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11970486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30787591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55426131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2203144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97320357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 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2021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2022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2023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2024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2025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2026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2027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692043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Кооледж 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1510000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2236476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1934765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4543534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2348887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1170004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2344598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661793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Кооледж 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237800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732647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567672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234234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323217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634423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235455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7513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 err="1">
                          <a:effectLst/>
                        </a:rPr>
                        <a:t>Кооледж</a:t>
                      </a:r>
                      <a:r>
                        <a:rPr lang="ru-RU" sz="1200" u="none" strike="noStrike" dirty="0">
                          <a:effectLst/>
                        </a:rPr>
                        <a:t> 3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3211400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4873837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3654654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3453453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5435323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4586959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8576885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58362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 err="1">
                          <a:effectLst/>
                        </a:rPr>
                        <a:t>Кооледж</a:t>
                      </a:r>
                      <a:r>
                        <a:rPr lang="ru-RU" sz="1200" u="none" strike="noStrike" dirty="0">
                          <a:effectLst/>
                        </a:rPr>
                        <a:t> 4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4961201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7844962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6159094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8233225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8109432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6393392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11158945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6783401"/>
                  </a:ext>
                </a:extLst>
              </a:tr>
            </a:tbl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5C5BBDB8-24C8-53BA-91E9-07606B6955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7040551"/>
              </p:ext>
            </p:extLst>
          </p:nvPr>
        </p:nvGraphicFramePr>
        <p:xfrm>
          <a:off x="3887076" y="373311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94418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02270-A78A-E4C1-D973-20DFAAD8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C0FBB-D7AB-076A-C484-A883C16BA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Файл с результатами работы выложить на сайт</a:t>
            </a:r>
          </a:p>
        </p:txBody>
      </p:sp>
    </p:spTree>
    <p:extLst>
      <p:ext uri="{BB962C8B-B14F-4D97-AF65-F5344CB8AC3E}">
        <p14:creationId xmlns:p14="http://schemas.microsoft.com/office/powerpoint/2010/main" val="11833294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225</Words>
  <Application>Microsoft Macintosh PowerPoint</Application>
  <PresentationFormat>Широкоэкранный</PresentationFormat>
  <Paragraphs>159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Табличный процессор часть 4</vt:lpstr>
      <vt:lpstr>Задание 1</vt:lpstr>
      <vt:lpstr>Задание 2</vt:lpstr>
      <vt:lpstr>Задание 3</vt:lpstr>
      <vt:lpstr>Задание 4</vt:lpstr>
      <vt:lpstr>Задание 5</vt:lpstr>
      <vt:lpstr>Задание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Табличный процессор часть 4</dc:title>
  <dc:creator>Елена Демидова</dc:creator>
  <cp:lastModifiedBy>Елена Демидова</cp:lastModifiedBy>
  <cp:revision>8</cp:revision>
  <dcterms:created xsi:type="dcterms:W3CDTF">2026-05-04T03:10:20Z</dcterms:created>
  <dcterms:modified xsi:type="dcterms:W3CDTF">2026-05-04T04:03:26Z</dcterms:modified>
</cp:coreProperties>
</file>