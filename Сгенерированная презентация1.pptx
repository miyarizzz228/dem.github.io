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media/image6.jpeg" ContentType="image/jpeg"/>
  <Override PartName="/ppt/media/image5.jpeg" ContentType="image/jpeg"/>
  <Override PartName="/ppt/media/image4.jpeg" ContentType="image/jpeg"/>
  <Override PartName="/ppt/media/image3.jpeg" ContentType="image/jpeg"/>
  <Override PartName="/ppt/media/image1.jpeg" ContentType="image/jpeg"/>
  <Override PartName="/ppt/media/image12.jpeg" ContentType="image/jpeg"/>
  <Override PartName="/ppt/media/image10.jpeg" ContentType="image/jpeg"/>
  <Override PartName="/ppt/media/image11.jpeg" ContentType="image/jpeg"/>
  <Override PartName="/ppt/media/image9.jpeg" ContentType="image/jpeg"/>
  <Override PartName="/ppt/media/image8.jpeg" ContentType="image/jpeg"/>
  <Override PartName="/ppt/media/image2.jpeg" ContentType="image/jpeg"/>
  <Override PartName="/ppt/media/image13.jpeg" ContentType="image/jpeg"/>
  <Override PartName="/ppt/media/image7.jpeg" ContentType="image/jpeg"/>
  <Override PartName="/ppt/presentation.xml" ContentType="application/vnd.openxmlformats-officedocument.presentationml.presentation.main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5.xml" ContentType="application/vnd.openxmlformats-officedocument.theme+xml"/>
  <Override PartName="/ppt/theme/theme1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6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ffffff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ffffff"/>
                </a:solidFill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45858066803"/>
          <c:y val="0.904306220095694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96227457"/>
        <c:axId val="33396417"/>
      </c:barChart>
      <c:catAx>
        <c:axId val="96227457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33396417"/>
        <c:crosses val="autoZero"/>
        <c:auto val="1"/>
        <c:lblAlgn val="ctr"/>
        <c:lblOffset val="100"/>
        <c:noMultiLvlLbl val="0"/>
      </c:catAx>
      <c:valAx>
        <c:axId val="33396417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96227457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81650776"/>
        <c:axId val="55376779"/>
      </c:barChart>
      <c:catAx>
        <c:axId val="81650776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55376779"/>
        <c:crosses val="autoZero"/>
        <c:auto val="1"/>
        <c:lblAlgn val="ctr"/>
        <c:lblOffset val="100"/>
        <c:noMultiLvlLbl val="0"/>
      </c:catAx>
      <c:valAx>
        <c:axId val="55376779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8165077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18330816"/>
        <c:axId val="96858994"/>
      </c:barChart>
      <c:catAx>
        <c:axId val="18330816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96858994"/>
        <c:crosses val="autoZero"/>
        <c:auto val="1"/>
        <c:lblAlgn val="ctr"/>
        <c:lblOffset val="100"/>
        <c:noMultiLvlLbl val="0"/>
      </c:catAx>
      <c:valAx>
        <c:axId val="96858994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1833081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12FCEB-80E6-4661-8E85-76F66621B8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C91F55F-5AA6-479E-9EED-E155BA1D6F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D73EF1C-5A5B-4471-8605-1D25822151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473916A-A262-41B9-BB26-07AA22CF78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DF601A1-E739-447D-B901-20DDCFB555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C83BFD7-8B05-47B3-B43E-3DF09523B5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C46E286-63F6-4A0A-8925-649D79AA6E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EB06232-BC17-498D-968E-244201669D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EF199CE-E01A-415A-BEBA-49E2C1A3FA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2EBFB737-5812-4BD1-8738-A666199F47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4FA49A8C-B39C-4A70-A3BA-E566C4CA7B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8E8A04E3-D41D-4299-91D6-0C83BCB999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A53235E-8B3A-4C98-8752-D930D0EA6E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1901C0CA-F063-48B6-AFAF-4CEE2D82D1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3F4D019F-C368-435E-B0D2-380AB0F7AA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5B36D2BB-CE29-4CEC-A5F1-8B032C97E9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133EC4DA-E772-4CC1-AE08-1A32452371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F59A9AA9-5E28-460E-A51F-FA7798BC1B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BBCC29F0-3887-422E-8706-DF4406C3F3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6230D433-4AD4-4BA9-A2AD-8029B06A19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39BB2799-E047-4C79-9FD3-34D0E53EC7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F0DE0B14-3665-4A23-B999-79D12F97AD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B7C00F0-5555-46A7-9CE4-C16FEEC625F1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1232B98-BB4C-46B9-979E-04C36FA1ABD7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6B9BDF5-A6FC-407B-A45A-6E255A8AF38A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597462B-EF83-48F0-9C36-1F660284CAD0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10179C5-D5CC-429F-975D-DAF5E7CD4798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92D9758-3738-43A7-8746-B541688E6BE9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6AA07B5-BBA9-4DD0-BB3A-CE3CDC2665B8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45CE165-0C46-43A3-BACB-6451D69CAF01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3B5B55F-898F-4667-852C-C126F3FDD639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C5B5846-1BCF-4C79-B62C-1A794F3EA762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76984AA-05F4-4B5F-AA5B-4B4C342B3EDC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227A884-CCA8-41BA-9E9E-11D8FA95E9CA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99FFD13-AFFD-4F4E-ADC8-7758477DCA5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E5D1E5D-5480-4E6C-916C-F0F8E72FDB0F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79F22B0-3CBC-40DD-9617-A946511069BF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9774806-369F-45A3-919E-6EF1C3168626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94E7039-F178-4882-9D25-6DD3484D375A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53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B1D7652-08AC-4B39-9EED-3F9DC53581CC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Диаграмма 8"/>
          <p:cNvGraphicFramePr/>
          <p:nvPr/>
        </p:nvGraphicFramePr>
        <p:xfrm>
          <a:off x="2031840" y="719640"/>
          <a:ext cx="8126280" cy="5416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56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0245066-6FA4-40CB-ADDC-66DD4D701A45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Диаграмма 7"/>
          <p:cNvGraphicFramePr/>
          <p:nvPr/>
        </p:nvGraphicFramePr>
        <p:xfrm>
          <a:off x="2031840" y="719640"/>
          <a:ext cx="8126280" cy="5416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59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BF85084-45F7-40E9-AB7F-9DC90D84CED7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Диаграмма 10"/>
          <p:cNvGraphicFramePr/>
          <p:nvPr/>
        </p:nvGraphicFramePr>
        <p:xfrm>
          <a:off x="2031840" y="719640"/>
          <a:ext cx="8126280" cy="5416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0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62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74D37DB-D736-4A7C-8C67-2D5A718D054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Диаграмма 11"/>
          <p:cNvGraphicFramePr/>
          <p:nvPr/>
        </p:nvGraphicFramePr>
        <p:xfrm>
          <a:off x="2031840" y="719640"/>
          <a:ext cx="8126280" cy="5416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4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Num" idx="65"/>
          </p:nvPr>
        </p:nvSpPr>
        <p:spPr>
          <a:xfrm>
            <a:off x="88678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A95BE18-E92E-41B4-80E9-D56C686BF77B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-1848600" y="1943640"/>
            <a:ext cx="141228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ru-RU" sz="4400" spc="-1" strike="noStrike">
                <a:solidFill>
                  <a:srgbClr val="034185"/>
                </a:solidFill>
                <a:latin typeface="Montserrat"/>
              </a:rPr>
              <a:t>8 Марта — Международный женский день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4108680" y="4114800"/>
            <a:ext cx="5863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202C, Собирова Мадина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784080" y="1371600"/>
            <a:ext cx="103186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8 Марта — Международный женский день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914400" y="2286000"/>
            <a:ext cx="10057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Праздник весны, красоты и женственности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День, когда мы говорим «спасибо» нашим мамам, жёнам, сёстрам и друзьям.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4640040" y="3290400"/>
            <a:ext cx="2052360" cy="328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-1647360" y="1371600"/>
            <a:ext cx="139842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Первые женские марши за равноправие в начале XX века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914400" y="2286000"/>
            <a:ext cx="1005732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1975 год — ООН объявила 8 Марта Международным женским днём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В России праздник стал официальным в 1965 году.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9681480" y="3309840"/>
            <a:ext cx="2052360" cy="328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2832840" y="1371600"/>
            <a:ext cx="62200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 </a:t>
            </a: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Как празднуют 8 Марта?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914400" y="2286000"/>
            <a:ext cx="10057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Подарки: цветы, конфеты, украшения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Поздравления в семье, на работе, в школе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Праздничные концерты и мероприятия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7141320" y="2145600"/>
            <a:ext cx="2052360" cy="328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/>
          <p:nvPr/>
        </p:nvSpPr>
        <p:spPr>
          <a:xfrm>
            <a:off x="1792080" y="1371600"/>
            <a:ext cx="8301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Почему тюльпаны дарят 8 Марта?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914400" y="2286000"/>
            <a:ext cx="10057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Тюльпан символизирует возрождение и новую жизнь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Разнообразие цветов: каждый оттенок несёт свой смысл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Идеальный подарок для выражения нежности и уважения.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474120" y="3357720"/>
            <a:ext cx="2052360" cy="328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3453840" y="1371600"/>
            <a:ext cx="49780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 </a:t>
            </a: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Дорогие женщины!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914400" y="2286000"/>
            <a:ext cx="10057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Желаем вам счастья, здоровья и вдохновения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Пусть каждый день приносит радость и улыбки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Спасибо за вашу доброту, мудрость и любовь!.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8411040" y="173160"/>
            <a:ext cx="2052360" cy="328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/>
          <p:nvPr/>
        </p:nvSpPr>
        <p:spPr>
          <a:xfrm>
            <a:off x="883800" y="1371600"/>
            <a:ext cx="10119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23 Февраля — День защитника Отечества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914400" y="2286000"/>
            <a:ext cx="1005732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Праздник мужества, чести и патриотизма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День, когда мы чествуем тех, кто стоит на страже мира.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9094320" y="2360160"/>
            <a:ext cx="2566080" cy="410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746640" y="1371600"/>
            <a:ext cx="103935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1918 год — первые отряды Красной Армии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914400" y="2286000"/>
            <a:ext cx="1005732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1995 год — официальное название «День защитника Отечества»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Символ уважения к военным и ветеранам.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425880" y="3261600"/>
            <a:ext cx="2052360" cy="328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"/>
          <p:cNvSpPr/>
          <p:nvPr/>
        </p:nvSpPr>
        <p:spPr>
          <a:xfrm>
            <a:off x="1910160" y="1371600"/>
            <a:ext cx="8065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Кто такие защитники Отечества?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914400" y="2286000"/>
            <a:ext cx="10057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Армия, флот, авиация, космические войска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Спасатели, пограничники, сотрудники МЧС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Героизм, дисциплина, преданность долгу.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7170120" y="2155320"/>
            <a:ext cx="2052360" cy="328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/>
          <p:nvPr/>
        </p:nvSpPr>
        <p:spPr>
          <a:xfrm>
            <a:off x="2966400" y="1371600"/>
            <a:ext cx="5953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Как празднуют в семье?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914400" y="2286000"/>
            <a:ext cx="10057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Поздравления папам, братьям, дедушкам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Подарки, сделанные своими руками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Семейные ужины и воспоминания о героях.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4640040" y="3290400"/>
            <a:ext cx="2052360" cy="328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"/>
          <p:cNvSpPr/>
          <p:nvPr/>
        </p:nvSpPr>
        <p:spPr>
          <a:xfrm>
            <a:off x="3393000" y="1371600"/>
            <a:ext cx="50997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Дорогие защитники!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914400" y="2286000"/>
            <a:ext cx="100573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Желаем вам крепкого здоровья и мирного неба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Спасибо за вашу силу, отвагу и преданность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Пусть удача сопровождает вас во всём!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8672040" y="1516320"/>
            <a:ext cx="3078360" cy="492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2200" cy="87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6000" spc="-1" strike="noStrike">
                <a:solidFill>
                  <a:schemeClr val="lt1"/>
                </a:solidFill>
                <a:latin typeface="Times New Roman"/>
              </a:rPr>
              <a:t>Спасибо за внимание!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2200" cy="23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Times New Roman"/>
              </a:rPr>
              <a:t>Наши контакты: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117105, г. Москва, Варшавское шоссе, д. 16А  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тел.: 8 (499)418-00-02   e-mail: mkramn@inbox.ru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Times New Roman"/>
              </a:rPr>
              <a:t>www.mkramn.ru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LibreOffice/7.6.7.2$Linux_X86_64 LibreOffice_project/60$Build-2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2026-03-07T12:12:20Z</dcterms:modified>
  <cp:revision>55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